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6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25880"/>
            <a:ext cx="1078992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Temporal Horizon Representations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039112"/>
            <a:ext cx="104241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0">
                <a:solidFill>
                  <a:srgbClr val="D2E1F5"/>
                </a:solidFill>
                <a:latin typeface="Aptos"/>
              </a:rPr>
              <a:t>as causal and online oversight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26280"/>
            <a:ext cx="5120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C2CDDA"/>
                </a:solidFill>
                <a:latin typeface="Aptos"/>
              </a:rPr>
              <a:t>RQ47 final technical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4251960"/>
            <a:ext cx="12801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4361688"/>
            <a:ext cx="1005839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100" b="1">
                <a:solidFill>
                  <a:srgbClr val="2C68AB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4727448"/>
            <a:ext cx="1005839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636E7B"/>
                </a:solidFill>
                <a:latin typeface="Aptos"/>
              </a:rPr>
              <a:t>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251960"/>
            <a:ext cx="14630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4361688"/>
            <a:ext cx="118872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100" b="1">
                <a:solidFill>
                  <a:srgbClr val="258B7E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4727448"/>
            <a:ext cx="1188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636E7B"/>
                </a:solidFill>
                <a:latin typeface="Aptos"/>
              </a:rPr>
              <a:t>probe methods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4251960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55480" y="4361688"/>
            <a:ext cx="114300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100" b="1">
                <a:solidFill>
                  <a:srgbClr val="CC5D32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4727448"/>
            <a:ext cx="1143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636E7B"/>
                </a:solidFill>
                <a:latin typeface="Aptos"/>
              </a:rPr>
              <a:t>causal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7263F"/>
                </a:solidFill>
                <a:latin typeface="Aptos"/>
              </a:rPr>
              <a:t>The Whole Story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Aptos"/>
              </a:rPr>
              <a:t>A coherent path from representation evidence to oversight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24231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057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2C68AB"/>
                </a:solidFill>
                <a:latin typeface="Aptos"/>
              </a:rPr>
              <a:t>1. Decode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96596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Aptos"/>
              </a:rPr>
              <a:t>Can a probe read short-term vs long-term horizon?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508760"/>
            <a:ext cx="24231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783080"/>
            <a:ext cx="2057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258B7E"/>
                </a:solidFill>
                <a:latin typeface="Aptos"/>
              </a:rPr>
              <a:t>2. 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331720"/>
            <a:ext cx="196596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Aptos"/>
              </a:rPr>
              <a:t>Does the signal transfer to explicit temporal examples?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1508760"/>
            <a:ext cx="24231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783080"/>
            <a:ext cx="2057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CC5D32"/>
                </a:solidFill>
                <a:latin typeface="Aptos"/>
              </a:rPr>
              <a:t>3. Intervene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331720"/>
            <a:ext cx="196596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Aptos"/>
              </a:rPr>
              <a:t>Does changing the representation move model logits?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999" y="1508760"/>
            <a:ext cx="24231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79" y="1783080"/>
            <a:ext cx="2057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418558"/>
                </a:solidFill>
                <a:latin typeface="Aptos"/>
              </a:rPr>
              <a:t>4. 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599" y="2331720"/>
            <a:ext cx="196596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Aptos"/>
              </a:rPr>
              <a:t>Does the signal move while behavior unfolds?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9966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17263F"/>
                </a:solidFill>
                <a:latin typeface="Aptos"/>
              </a:rPr>
              <a:t>The claim grows only when each stage supports the previous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7263F"/>
                </a:solidFill>
                <a:latin typeface="Aptos"/>
              </a:rPr>
              <a:t>Experimental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Aptos"/>
              </a:rPr>
              <a:t>The artifacts line up with the research progression.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1691640" cy="777240"/>
          </a:xfrm>
          <a:prstGeom prst="roundRect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508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Train probes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50008" y="1901952"/>
            <a:ext cx="411480" cy="256032"/>
          </a:xfrm>
          <a:prstGeom prst="rightArrow">
            <a:avLst/>
          </a:prstGeom>
          <a:solidFill>
            <a:srgbClr val="A9B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80360" y="1645920"/>
            <a:ext cx="1691640" cy="777240"/>
          </a:xfrm>
          <a:prstGeom prst="roundRect">
            <a:avLst/>
          </a:prstGeom>
          <a:solidFill>
            <a:srgbClr val="258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847088"/>
            <a:ext cx="1508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Validate probes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636008" y="1901952"/>
            <a:ext cx="411480" cy="256032"/>
          </a:xfrm>
          <a:prstGeom prst="rightArrow">
            <a:avLst/>
          </a:prstGeom>
          <a:solidFill>
            <a:srgbClr val="A9B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66360" y="1645920"/>
            <a:ext cx="1691640" cy="777240"/>
          </a:xfrm>
          <a:prstGeom prst="roundRect">
            <a:avLst/>
          </a:prstGeom>
          <a:solidFill>
            <a:srgbClr val="5F6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847088"/>
            <a:ext cx="1508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Select layers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922008" y="1901952"/>
            <a:ext cx="411480" cy="256032"/>
          </a:xfrm>
          <a:prstGeom prst="rightArrow">
            <a:avLst/>
          </a:prstGeom>
          <a:solidFill>
            <a:srgbClr val="A9B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52360" y="1645920"/>
            <a:ext cx="1691640" cy="777240"/>
          </a:xfrm>
          <a:prstGeom prst="roundRect">
            <a:avLst/>
          </a:prstGeom>
          <a:solidFill>
            <a:srgbClr val="CC5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847088"/>
            <a:ext cx="1508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Intervene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208008" y="1901952"/>
            <a:ext cx="411480" cy="256032"/>
          </a:xfrm>
          <a:prstGeom prst="rightArrow">
            <a:avLst/>
          </a:prstGeom>
          <a:solidFill>
            <a:srgbClr val="A9B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738360" y="1645920"/>
            <a:ext cx="1691640" cy="777240"/>
          </a:xfrm>
          <a:prstGeom prst="roundRect">
            <a:avLst/>
          </a:prstGeom>
          <a:solidFill>
            <a:srgbClr val="418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9800" y="1847088"/>
            <a:ext cx="1508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Monitor tokens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154680"/>
            <a:ext cx="1005840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Probe training/validation creates layer-wise evidence and saved probes.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The notebooks 03.1 and 03.2 turn the method/model results into validation figures.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RQ47 intervention and trajectory scripts test whether the probe signal matters and moves online.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7263F"/>
                </a:solidFill>
                <a:latin typeface="Aptos"/>
              </a:rPr>
              <a:t>Dataset And Probe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Aptos"/>
              </a:rPr>
              <a:t>Implicit temporal CAA pairs train the probe; explicit temporal examples test semantic transfer.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33756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00200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C68AB"/>
                </a:solidFill>
                <a:latin typeface="Aptos"/>
              </a:rPr>
              <a:t>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83464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Implicit AB-randomized temporal CAA examples</a:t>
            </a:r>
          </a:p>
          <a:p>
            <a:pPr>
              <a:spcAft>
                <a:spcPts val="7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Immediate and long-term options become balanced labels</a:t>
            </a:r>
          </a:p>
          <a:p>
            <a:pPr>
              <a:spcAft>
                <a:spcPts val="7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Pair-aware split avoids separating related examples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25880"/>
            <a:ext cx="333756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1600200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58B7E"/>
                </a:solidFill>
                <a:latin typeface="Aptos"/>
              </a:rPr>
              <a:t>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103120"/>
            <a:ext cx="283464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Reload saved implicit-trained probes</a:t>
            </a:r>
          </a:p>
          <a:p>
            <a:pPr>
              <a:spcAft>
                <a:spcPts val="7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Score explicit temporal examples layer by layer</a:t>
            </a:r>
          </a:p>
          <a:p>
            <a:pPr>
              <a:spcAft>
                <a:spcPts val="7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Choose best semantic layer by explicit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325880"/>
            <a:ext cx="333756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1600200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CC5D32"/>
                </a:solidFill>
                <a:latin typeface="Aptos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103120"/>
            <a:ext cx="283464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Success means the probe learned temporal horizon, not only one dataset's wording</a:t>
            </a:r>
          </a:p>
          <a:p>
            <a:pPr>
              <a:spcAft>
                <a:spcPts val="7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Layer-wise results tell causal experiments where to intervene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7263F"/>
                </a:solidFill>
                <a:latin typeface="Aptos"/>
              </a:rPr>
              <a:t>Probe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Aptos"/>
              </a:rPr>
              <a:t>Three probes ask whether temporal horizon is visible in hidden states or attention summaries.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34440"/>
          <a:ext cx="1069848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0861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Probe</a:t>
                      </a:r>
                    </a:p>
                  </a:txBody>
                  <a:tcPr>
                    <a:solidFill>
                      <a:srgbClr val="1726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Feature source</a:t>
                      </a:r>
                    </a:p>
                  </a:txBody>
                  <a:tcPr>
                    <a:solidFill>
                      <a:srgbClr val="1726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7263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Hidden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Learned boundary; strongest flexible linear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DMM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Hidden state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Simple temporal direction; useful as interpretable baseline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AttnProbe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Attention summaries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Tests whether attention distribution statistics carry 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" y="2971800"/>
            <a:ext cx="2514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39" y="3081528"/>
            <a:ext cx="224028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100" b="1">
                <a:solidFill>
                  <a:srgbClr val="2C68AB"/>
                </a:solidFill>
                <a:latin typeface="Aptos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39" y="3447288"/>
            <a:ext cx="22402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636E7B"/>
                </a:solidFill>
                <a:latin typeface="Aptos"/>
              </a:rPr>
              <a:t>best hidden-state probe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2971800"/>
            <a:ext cx="2514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3081528"/>
            <a:ext cx="224028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100" b="1">
                <a:solidFill>
                  <a:srgbClr val="CC5D32"/>
                </a:solidFill>
                <a:latin typeface="Aptos"/>
              </a:rPr>
              <a:t>70%-75%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447288"/>
            <a:ext cx="22402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636E7B"/>
                </a:solidFill>
                <a:latin typeface="Aptos"/>
              </a:rPr>
              <a:t>AttnProbe range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834640"/>
            <a:ext cx="4434840" cy="150876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2" y="2980944"/>
            <a:ext cx="410565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58B7E"/>
                </a:solidFill>
                <a:latin typeface="Aptos"/>
              </a:rPr>
              <a:t>Meaning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3310128"/>
            <a:ext cx="4105655" cy="9143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LR and DMM both finding signal is important: one is a learned classifier, the other is a simple average-difference direction. Agreement makes the representation less likely to be an artifact of one probe family.</a:t>
            </a:r>
          </a:p>
        </p:txBody>
      </p:sp>
      <p:pic>
        <p:nvPicPr>
          <p:cNvPr id="15" name="Picture 14" descr="lr_minus_dmm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163" y="4572000"/>
            <a:ext cx="2072873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7263F"/>
                </a:solidFill>
                <a:latin typeface="Aptos"/>
              </a:rPr>
              <a:t>Finding 1: The Signal Generalizes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Aptos"/>
              </a:rPr>
              <a:t>Best explicit validation accuracy across all model/method cases.</a:t>
            </a:r>
          </a:p>
        </p:txBody>
      </p:sp>
      <p:pic>
        <p:nvPicPr>
          <p:cNvPr id="5" name="Picture 4" descr="best_explicit_accurac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12734"/>
            <a:ext cx="6766560" cy="283817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26679" y="1234440"/>
            <a:ext cx="3520440" cy="164592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91271" y="1380744"/>
            <a:ext cx="31912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8AB"/>
                </a:solidFill>
                <a:latin typeface="Aptos"/>
              </a:rPr>
              <a:t>What The Heatmap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1" y="1709928"/>
            <a:ext cx="3191256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Each cell is the best explicit validation accuracy for one probe/model pair. The best case is LR on microsoft__Phi-3-mini-4k-instruct at layer 17, with 94% explicit accuracy.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3154680"/>
            <a:ext cx="3520440" cy="164592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91271" y="3300984"/>
            <a:ext cx="31912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58B7E"/>
                </a:solidFill>
                <a:latin typeface="Aptos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1271" y="3630168"/>
            <a:ext cx="3191256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The probes were trained on implicit examples. High explicit accuracy means the representation transfers to a different temporal framing, so the probe is not merely memorizing superficial wording.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212080"/>
            <a:ext cx="3246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AC3737"/>
                </a:solidFill>
                <a:latin typeface="Aptos"/>
              </a:rPr>
              <a:t>Validation threshold passed by all cases: 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7263F"/>
                </a:solidFill>
                <a:latin typeface="Aptos"/>
              </a:rPr>
              <a:t>Finding 1 Detail: Method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Aptos"/>
              </a:rPr>
              <a:t>The earlier all-method notebook shows which probe wins per model.</a:t>
            </a:r>
          </a:p>
        </p:txBody>
      </p:sp>
      <p:pic>
        <p:nvPicPr>
          <p:cNvPr id="5" name="Picture 4" descr="best_explicit_by_method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16037"/>
            <a:ext cx="7132320" cy="19035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325880"/>
            <a:ext cx="3154680" cy="150876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11312" y="1472184"/>
            <a:ext cx="28254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8AB"/>
                </a:solidFill>
                <a:latin typeface="Aptos"/>
              </a:rPr>
              <a:t>What The Bars Mean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11312" y="1801368"/>
            <a:ext cx="2825496" cy="9143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For each model, the bars compare the best explicit accuracy reached by LR, DMM, and AttnProbe. The dashed line marks the 70% semantic-validation threshold.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246120"/>
            <a:ext cx="3154680" cy="164592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3392424"/>
            <a:ext cx="28254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CC5D32"/>
                </a:solidFill>
                <a:latin typeface="Aptos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1312" y="3721608"/>
            <a:ext cx="2825496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The highest average explicit accuracy by method is LR at 82%. Hidden-state probes usually dominate, while attention summaries still carry weaker but real signal.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7263F"/>
                </a:solidFill>
                <a:latin typeface="Aptos"/>
              </a:rPr>
              <a:t>Finding 2: The Signal Has A Depth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Aptos"/>
              </a:rPr>
              <a:t>Normalized depth makes architectures with different layer counts comparable.</a:t>
            </a:r>
          </a:p>
        </p:txBody>
      </p:sp>
      <p:pic>
        <p:nvPicPr>
          <p:cNvPr id="5" name="Picture 4" descr="normalized_depth_heat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65" y="1024128"/>
            <a:ext cx="6796909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" y="5376672"/>
            <a:ext cx="5120640" cy="77724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5522976"/>
            <a:ext cx="479145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8AB"/>
                </a:solidFill>
                <a:latin typeface="Aptos"/>
              </a:rPr>
              <a:t>What This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5852160"/>
            <a:ext cx="4791455" cy="1828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Each row is a model, each column is a normalized depth bin, and each panel is a probe method. Brighter cells mean stronger explicit temporal-horizon decoding at that relative depth.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5376672"/>
            <a:ext cx="4800600" cy="77724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5522976"/>
            <a:ext cx="44714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58B7E"/>
                </a:solidFill>
                <a:latin typeface="Aptos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5852160"/>
            <a:ext cx="4471416" cy="1828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This answers where to look. The causal experiments use probe-selected layers rather than arbitrary layer choices, so the validation analysis directly informs intervention design.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7263F"/>
                </a:solidFill>
                <a:latin typeface="Aptos"/>
              </a:rPr>
              <a:t>Finding 2 Detail: Semantic Layer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Aptos"/>
              </a:rPr>
              <a:t>Some models have broad temporal-horizon bands; others have narrower windows.</a:t>
            </a:r>
          </a:p>
        </p:txBody>
      </p:sp>
      <p:pic>
        <p:nvPicPr>
          <p:cNvPr id="5" name="Picture 4" descr="semantic_layer_coverag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69374"/>
            <a:ext cx="6583680" cy="27762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1280160"/>
            <a:ext cx="3337560" cy="146304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36992" y="1426463"/>
            <a:ext cx="30083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8AB"/>
                </a:solidFill>
                <a:latin typeface="Aptos"/>
              </a:rPr>
              <a:t>What The Counts Mean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755648"/>
            <a:ext cx="3008376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 higher count means more layers clear the 70% explicit validation threshold. Broad coverage means the representation is accessible across a larger depth range.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154680"/>
            <a:ext cx="3337560" cy="141732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6992" y="3300984"/>
            <a:ext cx="30083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418558"/>
                </a:solidFill>
                <a:latin typeface="Aptos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992" y="3630168"/>
            <a:ext cx="3008376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If only one layer works, causal results may be fragile. If many layers work, the temporal signal is more distributed and layer selection is less brittle.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7263F"/>
                </a:solidFill>
                <a:latin typeface="Aptos"/>
              </a:rPr>
              <a:t>Finding 3: Explicit And Implicit Curves Track Layer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Aptos"/>
              </a:rPr>
              <a:t>A single-case view shows what the layer curves are doing.</a:t>
            </a:r>
          </a:p>
        </p:txBody>
      </p:sp>
      <p:pic>
        <p:nvPicPr>
          <p:cNvPr id="5" name="Picture 4" descr="explicit_vs_implicit_lr_Qwen3-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74097"/>
            <a:ext cx="7315200" cy="24045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79" y="1234440"/>
            <a:ext cx="2971800" cy="160020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48471" y="1380744"/>
            <a:ext cx="26426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8AB"/>
                </a:solidFill>
                <a:latin typeface="Aptos"/>
              </a:rPr>
              <a:t>What To Look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48471" y="1709928"/>
            <a:ext cx="2642616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The left panel compares implicit training/test behavior with explicit validation by layer. The right panel shows the explicit-minus-implicit gap and colors layers by semantic strength.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3246120"/>
            <a:ext cx="2971800" cy="160020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1" y="3392424"/>
            <a:ext cx="26426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58B7E"/>
                </a:solidFill>
                <a:latin typeface="Aptos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1" y="3721608"/>
            <a:ext cx="2642616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Layer curves reveal whether validation success is isolated, broad, or shifted relative to implicit training. That prevents a single best-layer number from hiding the shape of the result.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7263F"/>
                </a:solidFill>
                <a:latin typeface="Aptos"/>
              </a:rPr>
              <a:t>Finding 4: Cross-Validation Supports The Probe Signal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Aptos"/>
              </a:rPr>
              <a:t>CV curves add uncertainty around the implicit-training probe performance.</a:t>
            </a:r>
          </a:p>
        </p:txBody>
      </p:sp>
      <p:pic>
        <p:nvPicPr>
          <p:cNvPr id="5" name="Picture 4" descr="cv_analysis_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29859"/>
            <a:ext cx="7315200" cy="194672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79" y="1234440"/>
            <a:ext cx="2971800" cy="169164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48471" y="1380744"/>
            <a:ext cx="26426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8AB"/>
                </a:solidFill>
                <a:latin typeface="Aptos"/>
              </a:rPr>
              <a:t>What The Error Bars Mean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48471" y="1709928"/>
            <a:ext cx="2642616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The LR CV figure reports pair-aware cross-validation on implicit examples, alongside implicit and explicit layer accuracy. Stable high CV reduces concern that a layer is just a split accident.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3337560"/>
            <a:ext cx="2971800" cy="141732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1" y="3483864"/>
            <a:ext cx="26426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CC5D32"/>
                </a:solidFill>
                <a:latin typeface="Aptos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1" y="3813048"/>
            <a:ext cx="2642616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The deck's later causal claims depend on choosing credible layers. CV diagnostics help justify those layer choices before interventions are run.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7263F"/>
                </a:solidFill>
                <a:latin typeface="Aptos"/>
              </a:rPr>
              <a:t>Bridge: From Reading A Signal To Testing A Mechanism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Aptos"/>
              </a:rPr>
              <a:t>A probe can be accurate without being causal, so the next experiments intervene.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4572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2C68AB"/>
                </a:solidFill>
                <a:latin typeface="Aptos"/>
              </a:rPr>
              <a:t>Steering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4572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Add a temporal direction and measure short-vs-long logit shift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32588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1508760"/>
            <a:ext cx="4572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258B7E"/>
                </a:solidFill>
                <a:latin typeface="Aptos"/>
              </a:rPr>
              <a:t>Activation patching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59" y="1947672"/>
            <a:ext cx="4572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Patch clean activations into corrupted prompts and measure recovery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39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474720"/>
            <a:ext cx="4572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CC5D32"/>
                </a:solidFill>
                <a:latin typeface="Aptos"/>
              </a:rPr>
              <a:t>Attribution patching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913631"/>
            <a:ext cx="4572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Use activation gradients as a first-order patch estimate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3291839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3474720"/>
            <a:ext cx="4572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AC3737"/>
                </a:solidFill>
                <a:latin typeface="Aptos"/>
              </a:rPr>
              <a:t>Ablation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913631"/>
            <a:ext cx="4572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Remove or replace component outputs and measure drop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623560"/>
            <a:ext cx="102412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17263F"/>
                </a:solidFill>
                <a:latin typeface="Aptos"/>
              </a:rPr>
              <a:t>Interpretation rule: causal evidence is strongest when multiple intervention views point to the same model/layer/component pattern.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7263F"/>
                </a:solidFill>
                <a:latin typeface="Aptos"/>
              </a:rPr>
              <a:t>Causal Finding: Steering Moves The Logits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Aptos"/>
              </a:rPr>
              <a:t>Adding the temporal direction tests whether the representation is behaviorally active.</a:t>
            </a:r>
          </a:p>
        </p:txBody>
      </p:sp>
      <p:pic>
        <p:nvPicPr>
          <p:cNvPr id="5" name="Picture 4" descr="steering_best_resid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34" y="1143000"/>
            <a:ext cx="6160770" cy="3520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234440"/>
            <a:ext cx="3566160" cy="178308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1" y="1380744"/>
            <a:ext cx="32369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8AB"/>
                </a:solidFill>
                <a:latin typeface="Aptos"/>
              </a:rPr>
              <a:t>What The Heatmap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9831" y="1709928"/>
            <a:ext cx="3236976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Cells show the average logit shift from +3 steering versus no steering at the best residual layer. Larger positive values mean the temporal direction moves the model toward the targeted long-vs-short preference.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429000"/>
            <a:ext cx="3566160" cy="160020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9831" y="3575304"/>
            <a:ext cx="32369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CC5D32"/>
                </a:solidFill>
                <a:latin typeface="Aptos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1" y="3904487"/>
            <a:ext cx="3236976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Steering is a direct causal manipulation. If adding the direction changes logits, the probe direction is not only readable; it is connected to the model's decision surface.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7263F"/>
                </a:solidFill>
                <a:latin typeface="Aptos"/>
              </a:rPr>
              <a:t>Causal Finding: Activation Patching Recovers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Aptos"/>
              </a:rPr>
              <a:t>Clean activations can restore clean temporal choices on corrupted prompts.</a:t>
            </a:r>
          </a:p>
        </p:txBody>
      </p:sp>
      <p:pic>
        <p:nvPicPr>
          <p:cNvPr id="5" name="Picture 4" descr="activation_patching_best_resid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34" y="1143000"/>
            <a:ext cx="6160770" cy="3520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234440"/>
            <a:ext cx="3566160" cy="178308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1" y="1380744"/>
            <a:ext cx="32369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58B7E"/>
                </a:solidFill>
                <a:latin typeface="Aptos"/>
              </a:rPr>
              <a:t>What The Heatmap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9831" y="1709928"/>
            <a:ext cx="3236976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Cells report median normalized recovery from patching clean residual activations into corrupted prompts. Values near 1 mean the patch recovers most of the clean-vs-corrupt logit difference.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429000"/>
            <a:ext cx="3566160" cy="160020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9831" y="3575304"/>
            <a:ext cx="32369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418558"/>
                </a:solidFill>
                <a:latin typeface="Aptos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1" y="3904487"/>
            <a:ext cx="3236976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Patching localizes function. When clean activations repair corrupted behavior, that layer/component is carrying information used by the downstream computation.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7263F"/>
                </a:solidFill>
                <a:latin typeface="Aptos"/>
              </a:rPr>
              <a:t>Causal Finding: Attribution Patching Is A Fast Cross-Check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Aptos"/>
              </a:rPr>
              <a:t>Gradient estimates often highlight similar residual-stream effects.</a:t>
            </a:r>
          </a:p>
        </p:txBody>
      </p:sp>
      <p:pic>
        <p:nvPicPr>
          <p:cNvPr id="5" name="Picture 4" descr="attribution_patching_best_resid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34" y="1143000"/>
            <a:ext cx="6160770" cy="3520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234440"/>
            <a:ext cx="3566160" cy="160020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1" y="1380744"/>
            <a:ext cx="32369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CC5D32"/>
                </a:solidFill>
                <a:latin typeface="Aptos"/>
              </a:rPr>
              <a:t>What The Heatmap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9831" y="1709928"/>
            <a:ext cx="3236976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Cells estimate the activation-patching effect using activation gradients. It is a first-order approximation rather than a full forward patched 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246120"/>
            <a:ext cx="3566160" cy="178308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9831" y="3392424"/>
            <a:ext cx="32369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8AB"/>
                </a:solidFill>
                <a:latin typeface="Aptos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1" y="3721608"/>
            <a:ext cx="3236976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Agreement between activation patching and attribution patching is evidence that the identified layers are not a one-off artifact of one intervention method.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7263F"/>
                </a:solidFill>
                <a:latin typeface="Aptos"/>
              </a:rPr>
              <a:t>Causal Finding: Ablation Shows Dependence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Aptos"/>
              </a:rPr>
              <a:t>Removing residual information can reduce clean temporal behavior, with noisy edge cases.</a:t>
            </a:r>
          </a:p>
        </p:txBody>
      </p:sp>
      <p:pic>
        <p:nvPicPr>
          <p:cNvPr id="5" name="Picture 4" descr="ablation_best_resid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34" y="1143000"/>
            <a:ext cx="6160770" cy="3520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234440"/>
            <a:ext cx="3566160" cy="160020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1" y="1380744"/>
            <a:ext cx="32369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AC3737"/>
                </a:solidFill>
                <a:latin typeface="Aptos"/>
              </a:rPr>
              <a:t>What The Heatmap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9831" y="1709928"/>
            <a:ext cx="3236976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Cells show median drop from clean behavior after ablating the selected residual layer. Positive values mean removing the component damaged the clean temporal signal.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246120"/>
            <a:ext cx="3566160" cy="178308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9831" y="3392424"/>
            <a:ext cx="32369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CC5D32"/>
                </a:solidFill>
                <a:latin typeface="Aptos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1" y="3721608"/>
            <a:ext cx="3236976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Ablation asks the inverse question from patching: not can we add the signal back, but does removing it hurt? Together they make the causal story more complete.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7263F"/>
                </a:solidFill>
                <a:latin typeface="Aptos"/>
              </a:rPr>
              <a:t>Causal Synthesis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Aptos"/>
              </a:rPr>
              <a:t>The result is not one universal layer; it is a repeated residual-stream pattern with model-specific strength.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234440"/>
          <a:ext cx="53949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34290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726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Selector</a:t>
                      </a:r>
                    </a:p>
                  </a:txBody>
                  <a:tcPr>
                    <a:solidFill>
                      <a:srgbClr val="1726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Activation recovery</a:t>
                      </a:r>
                    </a:p>
                  </a:txBody>
                  <a:tcPr>
                    <a:solidFill>
                      <a:srgbClr val="17263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llama-3.2-3b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attn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phi-3-mini-4k-instruct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lr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qwen3-4b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dmm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qwen3-4b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attn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0.63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gpt2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0.19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37960" y="1325880"/>
            <a:ext cx="4663440" cy="2240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Residual stream is the most consistent component-level site across steering, patching, and ablation.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Model and selector matter: Phi-3 LR, Llama Attn-selected, and Qwen DMM/Attn patterns are the clearest cases.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Top-k layer runs are best interpreted as robustness checks rather than the main headline.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4160520"/>
            <a:ext cx="10012680" cy="109728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4306824"/>
            <a:ext cx="96834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7263F"/>
                </a:solidFill>
                <a:latin typeface="Aptos"/>
              </a:rPr>
              <a:t>Why This Is The Right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4636008"/>
            <a:ext cx="9683496" cy="5029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The causal evidence is meaningful but heterogeneous. The careful conclusion is that temporal horizon is causally relevant in several settings, not that every model uses an identical circuit.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7263F"/>
                </a:solidFill>
                <a:latin typeface="Aptos"/>
              </a:rPr>
              <a:t>Online Oversight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Aptos"/>
              </a:rPr>
              <a:t>Probe scores are recorded at the prompt end and after every generated token.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645920" cy="777240"/>
          </a:xfrm>
          <a:prstGeom prst="roundRect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1463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Prompt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42032" y="2084831"/>
            <a:ext cx="411480" cy="256032"/>
          </a:xfrm>
          <a:prstGeom prst="rightArrow">
            <a:avLst/>
          </a:prstGeom>
          <a:solidFill>
            <a:srgbClr val="A9B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17520" y="1828800"/>
            <a:ext cx="1645920" cy="777240"/>
          </a:xfrm>
          <a:prstGeom prst="roundRect">
            <a:avLst/>
          </a:prstGeom>
          <a:solidFill>
            <a:srgbClr val="258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029968"/>
            <a:ext cx="1463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Generate token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36592" y="2084831"/>
            <a:ext cx="411480" cy="256032"/>
          </a:xfrm>
          <a:prstGeom prst="rightArrow">
            <a:avLst/>
          </a:prstGeom>
          <a:solidFill>
            <a:srgbClr val="A9B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12080" y="1828800"/>
            <a:ext cx="1645920" cy="777240"/>
          </a:xfrm>
          <a:prstGeom prst="roundRect">
            <a:avLst/>
          </a:prstGeom>
          <a:solidFill>
            <a:srgbClr val="CC5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029968"/>
            <a:ext cx="1463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Extract hidden state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931152" y="2084831"/>
            <a:ext cx="411480" cy="256032"/>
          </a:xfrm>
          <a:prstGeom prst="rightArrow">
            <a:avLst/>
          </a:prstGeom>
          <a:solidFill>
            <a:srgbClr val="A9B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0" y="1828800"/>
            <a:ext cx="1645920" cy="777240"/>
          </a:xfrm>
          <a:prstGeom prst="roundRect">
            <a:avLst/>
          </a:prstGeom>
          <a:solidFill>
            <a:srgbClr val="418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2029968"/>
            <a:ext cx="1463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Score probe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125712" y="2084831"/>
            <a:ext cx="411480" cy="256032"/>
          </a:xfrm>
          <a:prstGeom prst="rightArrow">
            <a:avLst/>
          </a:prstGeom>
          <a:solidFill>
            <a:srgbClr val="A9B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0" y="1828800"/>
            <a:ext cx="1645920" cy="777240"/>
          </a:xfrm>
          <a:prstGeom prst="roundRect">
            <a:avLst/>
          </a:prstGeom>
          <a:solidFill>
            <a:srgbClr val="AC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029968"/>
            <a:ext cx="1463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Detect event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337560"/>
            <a:ext cx="5120640" cy="100584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483864"/>
            <a:ext cx="479145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8AB"/>
                </a:solidFill>
                <a:latin typeface="Aptos"/>
              </a:rPr>
              <a:t>What The Monitor Measures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3813048"/>
            <a:ext cx="4791455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For each prefix, it records the probe score at selected layers and marks the first step where a lightweight event detector fires.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337560"/>
            <a:ext cx="4800600" cy="100584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483864"/>
            <a:ext cx="44714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418558"/>
                </a:solidFill>
                <a:latin typeface="Aptos"/>
              </a:rP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813048"/>
            <a:ext cx="4471416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This turns a static representation into an online signal. If score drift precedes the event, the representation may provide early warning rather than post-hoc explanation.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7263F"/>
                </a:solidFill>
                <a:latin typeface="Aptos"/>
              </a:rPr>
              <a:t>Online Finding: Pre-Event Drift Appears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Aptos"/>
              </a:rPr>
              <a:t>The heatmap summarizes median score increases before keyword-detected events.</a:t>
            </a:r>
          </a:p>
        </p:txBody>
      </p:sp>
      <p:pic>
        <p:nvPicPr>
          <p:cNvPr id="5" name="Picture 4" descr="temporal_oversight_pre_event_delta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143000"/>
            <a:ext cx="6240780" cy="3566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234440"/>
            <a:ext cx="3566160" cy="141732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1" y="1380744"/>
            <a:ext cx="32369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418558"/>
                </a:solidFill>
                <a:latin typeface="Aptos"/>
              </a:rPr>
              <a:t>What The Heatmap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9831" y="1709928"/>
            <a:ext cx="3236976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Each cell is the median increase from initial probe score to the maximum score before an event. Larger values mean stronger precursor drift.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063240"/>
            <a:ext cx="3566160" cy="173736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9831" y="3209544"/>
            <a:ext cx="32369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CC5D32"/>
                </a:solidFill>
                <a:latin typeface="Aptos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1" y="3538728"/>
            <a:ext cx="3236976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The strongest drifts show that the temporal signal can move before the detector fires. This is evidence for a monitoring pipeline, not yet a final safety detector.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7263F"/>
                </a:solidFill>
                <a:latin typeface="Aptos"/>
              </a:rPr>
              <a:t>Online Finding Detail: Top Pre-Event Drifts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Aptos"/>
              </a:rPr>
              <a:t>Concrete examples make the heatmap easier to interpret.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43000"/>
          <a:ext cx="69037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744"/>
                <a:gridCol w="1380744"/>
                <a:gridCol w="1380744"/>
                <a:gridCol w="1380744"/>
                <a:gridCol w="1380744"/>
              </a:tblGrid>
              <a:tr h="424542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726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Prompt</a:t>
                      </a:r>
                    </a:p>
                  </a:txBody>
                  <a:tcPr>
                    <a:solidFill>
                      <a:srgbClr val="1726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Sel.</a:t>
                      </a:r>
                    </a:p>
                  </a:txBody>
                  <a:tcPr>
                    <a:solidFill>
                      <a:srgbClr val="1726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Drift</a:t>
                      </a:r>
                    </a:p>
                  </a:txBody>
                  <a:tcPr>
                    <a:solidFill>
                      <a:srgbClr val="1726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Event</a:t>
                      </a:r>
                    </a:p>
                  </a:txBody>
                  <a:tcPr>
                    <a:solidFill>
                      <a:srgbClr val="17263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gpt2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sycophancy_budget_01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phi-3-mini-4k-instruct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short_term_pressure_01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dmm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0.57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phi-3-mini-4k-instruct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short_term_pressure_01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attn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0.57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gpt2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sycophancy_budget_01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dmm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0.46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gpt2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sycophancy_budget_01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attn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0.29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454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gpt2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deception_status_01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dmm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0.27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234440"/>
            <a:ext cx="3429000" cy="150876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82712" y="1380744"/>
            <a:ext cx="30998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8AB"/>
                </a:solidFill>
                <a:latin typeface="Aptos"/>
              </a:rPr>
              <a:t>What The Rows Mean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2712" y="1709928"/>
            <a:ext cx="3099816" cy="9143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Each row is one model/prompt/selector case where the probe score rose before the first keyword event. Drift is the pre-event score increase.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3154680"/>
            <a:ext cx="3429000" cy="160020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2" y="3300984"/>
            <a:ext cx="30998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58B7E"/>
                </a:solidFill>
                <a:latin typeface="Aptos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2" y="3630168"/>
            <a:ext cx="3099816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Examples like GPT-2 sycophancy and Phi-3 short-term pressure show the monitor can surface specific precursor traces for deeper qualitative review.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7263F"/>
                </a:solidFill>
                <a:latin typeface="Aptos"/>
              </a:rP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Aptos"/>
              </a:rPr>
              <a:t>The evidence is useful, but the final safety claim needs stronger detectors and broader sampling.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Keyword event detector validates the pipeline, not a final safety classifier.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Online monitoring currently covers a small prompt set; more prompts are needed for confidence intervals.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Ablation is component-level across Hugging Face models; per-head ablation remains future work.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Some normalized patching and ablation scores are unstable when baseline denominators are small.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The trajectory monitor recomputes full prefixes for clarity and portability; a KV-cache version would be faster.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7263F"/>
                </a:solidFill>
                <a:latin typeface="Aptos"/>
              </a:rPr>
              <a:t>Conclusion And Next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Aptos"/>
              </a:rPr>
              <a:t>Temporal horizon is decodable, causally relevant in several settings, and monitorable during generation.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7635240" cy="3154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Decodability: hidden-state probes validate across GPT-2, Qwen3-4B, Phi-3-mini, and Llama-3.2-3B.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Causality: steering, patching, attribution, and ablation identify meaningful residual-stream intervention sites.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Online monitoring: pre-event probe drift appears in several trajectories.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Next: replace keyword detector, join classifier scores, expand prompts, add per-head ablations, and quantify uncertainty.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1508760"/>
            <a:ext cx="2468880" cy="256032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0" y="1828800"/>
            <a:ext cx="19202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17263F"/>
                </a:solidFill>
                <a:latin typeface="Aptos"/>
              </a:rPr>
              <a:t>Bottom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2331720"/>
            <a:ext cx="192024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Aptos"/>
              </a:rPr>
              <a:t>The signal is readable, often causally relevant, and usable as a monitoring trace.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